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85800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8EE"/>
                </a:solidFill>
                <a:latin typeface="Aptos"/>
              </a:rPr>
              <a:t>DEVOPS FINAL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76809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SupportDesk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77724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CED8E8"/>
                </a:solidFill>
                <a:latin typeface="Aptos"/>
              </a:rPr>
              <a:t>A practical helpdesk ticket platform delivered through a complete DevSecOps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3246120"/>
            <a:ext cx="841248" cy="292608"/>
          </a:xfrm>
          <a:prstGeom prst="roundRect">
            <a:avLst/>
          </a:prstGeom>
          <a:solidFill>
            <a:srgbClr val="2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287268"/>
            <a:ext cx="8412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FCFFF"/>
                </a:solidFill>
                <a:latin typeface="Aptos"/>
              </a:rPr>
              <a:t>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9072" y="3246120"/>
            <a:ext cx="1024128" cy="292608"/>
          </a:xfrm>
          <a:prstGeom prst="roundRect">
            <a:avLst/>
          </a:prstGeom>
          <a:solidFill>
            <a:srgbClr val="2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9072" y="3287268"/>
            <a:ext cx="102412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FCFFF"/>
                </a:solidFill>
                <a:latin typeface="Aptos"/>
              </a:rP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3246120"/>
            <a:ext cx="1234440" cy="292608"/>
          </a:xfrm>
          <a:prstGeom prst="roundRect">
            <a:avLst/>
          </a:prstGeom>
          <a:solidFill>
            <a:srgbClr val="2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3287268"/>
            <a:ext cx="12344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FCFFF"/>
                </a:solidFill>
                <a:latin typeface="Aptos"/>
              </a:rP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3246120"/>
            <a:ext cx="1097280" cy="292608"/>
          </a:xfrm>
          <a:prstGeom prst="roundRect">
            <a:avLst/>
          </a:prstGeom>
          <a:solidFill>
            <a:srgbClr val="2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3287268"/>
            <a:ext cx="1097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FCFFF"/>
                </a:solidFill>
                <a:latin typeface="Aptos"/>
              </a:rPr>
              <a:t>Kubernetes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246120"/>
            <a:ext cx="960120" cy="292608"/>
          </a:xfrm>
          <a:prstGeom prst="roundRect">
            <a:avLst/>
          </a:prstGeom>
          <a:solidFill>
            <a:srgbClr val="2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287268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FCFFF"/>
                </a:solidFill>
                <a:latin typeface="Aptos"/>
              </a:rPr>
              <a:t>Terraform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234440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8EE"/>
                </a:solidFill>
                <a:latin typeface="Aptos"/>
              </a:rPr>
              <a:t>Ticket lifecycle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1828800"/>
            <a:ext cx="566928" cy="566928"/>
          </a:xfrm>
          <a:prstGeom prst="ellipse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938528"/>
            <a:ext cx="5669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8424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OPEN</a:t>
            </a:r>
          </a:p>
        </p:txBody>
      </p:sp>
      <p:sp>
        <p:nvSpPr>
          <p:cNvPr id="19" name="Oval 18"/>
          <p:cNvSpPr/>
          <p:nvPr/>
        </p:nvSpPr>
        <p:spPr>
          <a:xfrm>
            <a:off x="9665208" y="1828800"/>
            <a:ext cx="566928" cy="566928"/>
          </a:xfrm>
          <a:prstGeom prst="ellipse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938528"/>
            <a:ext cx="5669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198424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22" name="Oval 21"/>
          <p:cNvSpPr/>
          <p:nvPr/>
        </p:nvSpPr>
        <p:spPr>
          <a:xfrm>
            <a:off x="7973568" y="2971800"/>
            <a:ext cx="566928" cy="566928"/>
          </a:xfrm>
          <a:prstGeom prst="ellipse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3081528"/>
            <a:ext cx="5669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12724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WAITING</a:t>
            </a:r>
          </a:p>
        </p:txBody>
      </p:sp>
      <p:sp>
        <p:nvSpPr>
          <p:cNvPr id="25" name="Oval 24"/>
          <p:cNvSpPr/>
          <p:nvPr/>
        </p:nvSpPr>
        <p:spPr>
          <a:xfrm>
            <a:off x="9665208" y="2971800"/>
            <a:ext cx="566928" cy="566928"/>
          </a:xfrm>
          <a:prstGeom prst="ellipse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3081528"/>
            <a:ext cx="5669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12724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RESOLVED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053328"/>
            <a:ext cx="8961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3B5D1"/>
                </a:solidFill>
                <a:latin typeface="Aptos"/>
              </a:rPr>
              <a:t>Local validation: 12 backend tests passed · Docker Compose smoke test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457200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499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01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Support teams need one operational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SupportDesk turns incoming customer problems into visible, measurable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337560" cy="182880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182880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Capture the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2926079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Create a ticket with a subject, description, requester, category, priority, and owner.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20240"/>
            <a:ext cx="3337560" cy="182880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920240"/>
            <a:ext cx="64008" cy="182880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03120"/>
            <a:ext cx="29260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Move the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87168"/>
            <a:ext cx="2926079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Advance tickets through OPEN, IN_PROGRESS, WAITING, and RESOLVED states from the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136" y="1920240"/>
            <a:ext cx="3337560" cy="182880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46136" y="1920240"/>
            <a:ext cx="64008" cy="182880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260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Observe the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487168"/>
            <a:ext cx="2926079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Expose health, readiness, metrics, and queue statistics for operators and dashboards.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1596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2033"/>
                </a:solidFill>
                <a:latin typeface="Aptos"/>
              </a:rPr>
              <a:t>What makes this a capstone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804672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536078"/>
                </a:solidFill>
                <a:latin typeface="Aptos"/>
              </a:rPr>
              <a:t>01  </a:t>
            </a:r>
            <a:r>
              <a:rPr sz="1300" b="0">
                <a:solidFill>
                  <a:srgbClr val="536078"/>
                </a:solidFill>
                <a:latin typeface="Aptos"/>
              </a:rPr>
              <a:t>A real CRUD workflow instead of a blank starter page.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36078"/>
                </a:solidFill>
                <a:latin typeface="Aptos"/>
              </a:rPr>
              <a:t>02  </a:t>
            </a:r>
            <a:r>
              <a:rPr sz="1300" b="0">
                <a:solidFill>
                  <a:srgbClr val="536078"/>
                </a:solidFill>
                <a:latin typeface="Aptos"/>
              </a:rPr>
              <a:t>A responsive interface with loading and backend-error states.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36078"/>
                </a:solidFill>
                <a:latin typeface="Aptos"/>
              </a:rPr>
              <a:t>03  </a:t>
            </a:r>
            <a:r>
              <a:rPr sz="1300" b="0">
                <a:solidFill>
                  <a:srgbClr val="536078"/>
                </a:solidFill>
                <a:latin typeface="Aptos"/>
              </a:rPr>
              <a:t>A database-backed API that can travel from laptop to Kubernetes.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617720"/>
            <a:ext cx="1234440" cy="292608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658868"/>
            <a:ext cx="12344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970BC"/>
                </a:solidFill>
                <a:latin typeface="Aptos"/>
              </a:rPr>
              <a:t>Responsive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4617720"/>
            <a:ext cx="960120" cy="292608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4658868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8965"/>
                </a:solidFill>
                <a:latin typeface="Aptos"/>
              </a:rPr>
              <a:t>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5029200"/>
            <a:ext cx="1234440" cy="29260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5070348"/>
            <a:ext cx="12344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A7A1D"/>
                </a:solidFill>
                <a:latin typeface="Aptos"/>
              </a:rPr>
              <a:t>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5029200"/>
            <a:ext cx="960120" cy="292608"/>
          </a:xfrm>
          <a:prstGeom prst="roundRect">
            <a:avLst/>
          </a:prstGeom>
          <a:solidFill>
            <a:srgbClr val="F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5070348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7752A0"/>
                </a:solidFill>
                <a:latin typeface="Aptos"/>
              </a:rPr>
              <a:t>Migrations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02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A deliberately small, production-shaped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Each tool has a clear responsibility in the delivery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60320" cy="155448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155448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React · Vite · CSS
Nginx unprivileged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560320" cy="155448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74519"/>
            <a:ext cx="64008" cy="155448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057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41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Python · FastAPI · SQLAlchemy
Health, readiness,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74519"/>
            <a:ext cx="2560320" cy="155448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74519"/>
            <a:ext cx="64008" cy="155448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057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41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PostgreSQL 16
Alembic migrations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74519"/>
            <a:ext cx="2560320" cy="1554480"/>
          </a:xfrm>
          <a:prstGeom prst="roundRect">
            <a:avLst/>
          </a:prstGeom>
          <a:solidFill>
            <a:srgbClr val="F4ED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874519"/>
            <a:ext cx="64008" cy="1554480"/>
          </a:xfrm>
          <a:prstGeom prst="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057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41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Pytest
Isolated SQLite test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0520"/>
            <a:ext cx="2560320" cy="155448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60520"/>
            <a:ext cx="64008" cy="155448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Packaging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27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Dockerfiles
Docker Compose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160520"/>
            <a:ext cx="2560320" cy="155448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0440" y="4160520"/>
            <a:ext cx="64008" cy="155448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4343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727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GitHub Actions
GHCR · Trivy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160520"/>
            <a:ext cx="2560320" cy="155448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160520"/>
            <a:ext cx="64008" cy="155448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343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27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Terraform · AWS VPC/EKS
Kubernetes · Helm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160520"/>
            <a:ext cx="2560320" cy="1554480"/>
          </a:xfrm>
          <a:prstGeom prst="roundRect">
            <a:avLst/>
          </a:prstGeom>
          <a:solidFill>
            <a:srgbClr val="F4ED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4160520"/>
            <a:ext cx="64008" cy="1554480"/>
          </a:xfrm>
          <a:prstGeom prst="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343400"/>
            <a:ext cx="21488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727448"/>
            <a:ext cx="2148839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Ingress · HPA
Prometheus · Grafana · ArgoCD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03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The browser reaches one application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Nginx handles the frontend and `/api` proxy while FastAPI owns business logic and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011680" cy="114300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" cy="114300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1600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Support agent
http://localhost:3000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40280"/>
            <a:ext cx="2011680" cy="1143000"/>
          </a:xfrm>
          <a:prstGeom prst="roundRect">
            <a:avLst/>
          </a:prstGeom>
          <a:solidFill>
            <a:srgbClr val="F4ED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40280"/>
            <a:ext cx="64008" cy="1143000"/>
          </a:xfrm>
          <a:prstGeom prst="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07208"/>
            <a:ext cx="1600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Static React app
/api reverse 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240280"/>
            <a:ext cx="2011680" cy="114300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2240280"/>
            <a:ext cx="64008" cy="114300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423160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07208"/>
            <a:ext cx="1600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CRUD API
health/readiness/metrics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240280"/>
            <a:ext cx="2011680" cy="114300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240280"/>
            <a:ext cx="64008" cy="114300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423160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07208"/>
            <a:ext cx="1600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Tickets table
Alembic migrations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2816352"/>
            <a:ext cx="457200" cy="0"/>
          </a:xfrm>
          <a:prstGeom prst="line">
            <a:avLst/>
          </a:prstGeom>
          <a:ln w="25400">
            <a:solidFill>
              <a:srgbClr val="39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816352"/>
            <a:ext cx="457200" cy="0"/>
          </a:xfrm>
          <a:prstGeom prst="line">
            <a:avLst/>
          </a:prstGeom>
          <a:ln w="25400">
            <a:solidFill>
              <a:srgbClr val="39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816352"/>
            <a:ext cx="457200" cy="0"/>
          </a:xfrm>
          <a:prstGeom prst="line">
            <a:avLst/>
          </a:prstGeom>
          <a:ln w="25400">
            <a:solidFill>
              <a:srgbClr val="39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74519" y="4251960"/>
            <a:ext cx="2423160" cy="10515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251960"/>
            <a:ext cx="64008" cy="105156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4434840"/>
            <a:ext cx="20116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Delivery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18888"/>
            <a:ext cx="2011679" cy="365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GitHub → Actions → Docker → GHCR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251960"/>
            <a:ext cx="2423160" cy="10515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63440" y="4251960"/>
            <a:ext cx="64008" cy="105156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434840"/>
            <a:ext cx="20116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Infrastructure plane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18888"/>
            <a:ext cx="2011679" cy="365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Terraform → VPC → EKS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4251960"/>
            <a:ext cx="2423160" cy="10515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251960"/>
            <a:ext cx="64008" cy="105156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4434840"/>
            <a:ext cx="20116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Operations plane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818888"/>
            <a:ext cx="2011679" cy="365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Helm → Ingress/HPA → monitoring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081528" y="3493008"/>
            <a:ext cx="0" cy="667512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870448" y="3493008"/>
            <a:ext cx="0" cy="667512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659368" y="3493008"/>
            <a:ext cx="0" cy="667512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04 ·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Every main-branch image is traceable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The commit SHA is carried from source code to the container registry and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828800" cy="150876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64008" cy="150876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1417320" cy="822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pytest -v
npm ci &amp;&amp; npm run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70BC"/>
                </a:solidFill>
                <a:latin typeface="Aptos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9464" y="2926080"/>
            <a:ext cx="310896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53512" y="2194560"/>
            <a:ext cx="1828800" cy="1508760"/>
          </a:xfrm>
          <a:prstGeom prst="roundRect">
            <a:avLst/>
          </a:prstGeom>
          <a:solidFill>
            <a:srgbClr val="F4ED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3512" y="2194560"/>
            <a:ext cx="64008" cy="1508760"/>
          </a:xfrm>
          <a:prstGeom prst="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3774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761488"/>
            <a:ext cx="1417320" cy="822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backend image
frontend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752A0"/>
                </a:solidFill>
                <a:latin typeface="Aptos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37176" y="2926080"/>
            <a:ext cx="310896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21224" y="2194560"/>
            <a:ext cx="1828800" cy="150876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21224" y="2194560"/>
            <a:ext cx="64008" cy="150876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23774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761488"/>
            <a:ext cx="1417320" cy="822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Trivy
HIGH/CRITICAL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A7A1D"/>
                </a:solidFill>
                <a:latin typeface="Apto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2926080"/>
            <a:ext cx="310895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88936" y="2194560"/>
            <a:ext cx="1828800" cy="150876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88936" y="2194560"/>
            <a:ext cx="64008" cy="150876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23774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Publish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761488"/>
            <a:ext cx="1417320" cy="822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GHCR
&lt;commit-sha&gt; tags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8965"/>
                </a:solidFill>
                <a:latin typeface="Aptos"/>
              </a:rPr>
              <a:t>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2926080"/>
            <a:ext cx="310896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56648" y="2194560"/>
            <a:ext cx="1828800" cy="150876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2194560"/>
            <a:ext cx="64008" cy="150876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5248" y="23774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761488"/>
            <a:ext cx="1417320" cy="822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Helm
EKS opt-in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70BC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434840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33"/>
                </a:solidFill>
                <a:latin typeface="Aptos"/>
              </a:rPr>
              <a:t>Traceability 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828032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36078"/>
                </a:solidFill>
                <a:latin typeface="Aptos"/>
              </a:rPr>
              <a:t>commit A  →  backend:&lt;sha-A&gt;  +  frontend:&lt;sha-A&gt;  →  Helm 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413248"/>
            <a:ext cx="9875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A failed test or security gate stops promotion before an image reaches GHCR.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05 ·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Terraform creates the landing zone; Helm runs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The repository separates AWS infrastructure from Kubernetes application packaging.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154680" cy="201168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64008" cy="201168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Terraform / 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74320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VPC
Two public + two private subnets
NAT gateway
EKS control plane
Managed node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920240"/>
            <a:ext cx="3154680" cy="201168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920240"/>
            <a:ext cx="64008" cy="201168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87168"/>
            <a:ext cx="274320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supportdesk namespace
Frontend + backend Deployments
PostgreSQL + PVC
ClusterIP Services
Ingress + HPA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920240"/>
            <a:ext cx="3154680" cy="201168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920240"/>
            <a:ext cx="64008" cy="201168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103120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Helm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87168"/>
            <a:ext cx="274320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Reusable values
SHA-based images
Health/readiness probes
Environment-specific configuration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13632" y="2926080"/>
            <a:ext cx="274320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34072" y="2926080"/>
            <a:ext cx="274320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498848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33"/>
                </a:solidFill>
                <a:latin typeface="Aptos"/>
              </a:rPr>
              <a:t>Operational prerequisites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9875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36078"/>
                </a:solidFill>
                <a:latin typeface="Aptos"/>
              </a:rPr>
              <a:t>Ingress controller  </a:t>
            </a:r>
            <a:r>
              <a:rPr sz="1200" b="0">
                <a:solidFill>
                  <a:srgbClr val="536078"/>
                </a:solidFill>
                <a:latin typeface="Aptos"/>
              </a:rPr>
              <a:t>implements the nginx Ingress class.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36078"/>
                </a:solidFill>
                <a:latin typeface="Aptos"/>
              </a:rPr>
              <a:t>Metrics Server  </a:t>
            </a:r>
            <a:r>
              <a:rPr sz="1200" b="0">
                <a:solidFill>
                  <a:srgbClr val="536078"/>
                </a:solidFill>
                <a:latin typeface="Aptos"/>
              </a:rPr>
              <a:t>provides CPU data for the HPA.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36078"/>
                </a:solidFill>
                <a:latin typeface="Aptos"/>
              </a:rPr>
              <a:t>StorageClass  </a:t>
            </a:r>
            <a:r>
              <a:rPr sz="1200" b="0">
                <a:solidFill>
                  <a:srgbClr val="536078"/>
                </a:solidFill>
                <a:latin typeface="Aptos"/>
              </a:rPr>
              <a:t>provides persistent storage for PostgreSQL.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970BC"/>
                </a:solidFill>
                <a:latin typeface="Aptos"/>
              </a:rPr>
              <a:t>06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33"/>
                </a:solidFill>
                <a:latin typeface="Aptos"/>
              </a:rPr>
              <a:t>Health and metrics are part of the application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5A7"/>
                </a:solidFill>
                <a:latin typeface="Aptos"/>
              </a:rPr>
              <a:t>Operators can distinguish process health, database readiness, traffic, latency, and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062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A95A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14600" cy="1417320"/>
          </a:xfrm>
          <a:prstGeom prst="roundRect">
            <a:avLst/>
          </a:prstGeom>
          <a:solidFill>
            <a:srgbClr val="E8F8F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64008" cy="1417320"/>
          </a:xfrm>
          <a:prstGeom prst="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21031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Liveness
Returns UP when the process is alive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74519"/>
            <a:ext cx="2514600" cy="1417320"/>
          </a:xfrm>
          <a:prstGeom prst="roundRect">
            <a:avLst/>
          </a:prstGeom>
          <a:solidFill>
            <a:srgbClr val="E8F3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74519"/>
            <a:ext cx="64008" cy="1417320"/>
          </a:xfrm>
          <a:prstGeom prst="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/ready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41448"/>
            <a:ext cx="21031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Readiness
Checks database access before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514600" cy="1417320"/>
          </a:xfrm>
          <a:prstGeom prst="roundRect">
            <a:avLst/>
          </a:prstGeom>
          <a:solidFill>
            <a:srgbClr val="F4EDFF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64008" cy="1417320"/>
          </a:xfrm>
          <a:prstGeom prst="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/metrics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41448"/>
            <a:ext cx="21031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Prometheus
Request counters and latency histograms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874519"/>
            <a:ext cx="2514600" cy="1417320"/>
          </a:xfrm>
          <a:prstGeom prst="roundRect">
            <a:avLst/>
          </a:prstGeom>
          <a:solidFill>
            <a:srgbClr val="FFF6E0"/>
          </a:solidFill>
          <a:ln w="10160"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874519"/>
            <a:ext cx="64008" cy="1417320"/>
          </a:xfrm>
          <a:prstGeom prst="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57400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2033"/>
                </a:solidFill>
                <a:latin typeface="Aptos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41448"/>
            <a:ext cx="21031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36078"/>
                </a:solidFill>
                <a:latin typeface="Aptos"/>
              </a:rPr>
              <a:t>Live panels
Rate, errors, p95 latency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73552" y="2578608"/>
            <a:ext cx="1554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6752" y="2578608"/>
            <a:ext cx="1554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59952" y="2578608"/>
            <a:ext cx="1554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2033"/>
                </a:solidFill>
                <a:latin typeface="Aptos"/>
              </a:rPr>
              <a:t>Prometheus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663440"/>
            <a:ext cx="1828800" cy="658368"/>
          </a:xfrm>
          <a:prstGeom prst="roundRect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8920" y="4992624"/>
            <a:ext cx="6126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520440" y="4663440"/>
            <a:ext cx="1828800" cy="658368"/>
          </a:xfrm>
          <a:prstGeom prst="roundRect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86460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ServiceMonitor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94960" y="4992624"/>
            <a:ext cx="6126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26480" y="4663440"/>
            <a:ext cx="1828800" cy="658368"/>
          </a:xfrm>
          <a:prstGeom prst="roundRect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86460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Prometheus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01000" y="4992624"/>
            <a:ext cx="612648" cy="0"/>
          </a:xfrm>
          <a:prstGeom prst="line">
            <a:avLst/>
          </a:prstGeom>
          <a:ln w="25400">
            <a:solidFill>
              <a:srgbClr val="8A9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732520" y="4663440"/>
            <a:ext cx="1828800" cy="658368"/>
          </a:xfrm>
          <a:prstGeom prst="roundRect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486460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Grafana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473952"/>
            <a:ext cx="10835640" cy="9144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55624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7"/>
                </a:solidFill>
                <a:latin typeface="Aptos"/>
              </a:rPr>
              <a:t>SupportDesk · DevSecOps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66928"/>
            <a:ext cx="5029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8EE"/>
                </a:solidFill>
                <a:latin typeface="Aptos"/>
              </a:rPr>
              <a:t>07 · SECURITY +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8595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ED8E8"/>
                </a:solidFill>
                <a:latin typeface="Aptos"/>
              </a:rPr>
              <a:t>A small application can still have disciplined delivery controls.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514600"/>
            <a:ext cx="347472" cy="347472"/>
          </a:xfrm>
          <a:prstGeom prst="ellipse">
            <a:avLst/>
          </a:prstGeom>
          <a:solidFill>
            <a:srgbClr val="397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0"/>
            <a:ext cx="3474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Non-root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3C2DA"/>
                </a:solidFill>
                <a:latin typeface="Aptos"/>
              </a:rPr>
              <a:t>Backend UID 10001 and unprivileged Nginx runtime.</a:t>
            </a:r>
          </a:p>
        </p:txBody>
      </p:sp>
      <p:sp>
        <p:nvSpPr>
          <p:cNvPr id="9" name="Oval 8"/>
          <p:cNvSpPr/>
          <p:nvPr/>
        </p:nvSpPr>
        <p:spPr>
          <a:xfrm>
            <a:off x="6190488" y="2514600"/>
            <a:ext cx="347472" cy="347472"/>
          </a:xfrm>
          <a:prstGeom prst="ellipse">
            <a:avLst/>
          </a:prstGeom>
          <a:solidFill>
            <a:srgbClr val="2D8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2560320"/>
            <a:ext cx="3474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51460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Automated quality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8036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3C2DA"/>
                </a:solidFill>
                <a:latin typeface="Aptos"/>
              </a:rPr>
              <a:t>12 isolated API tests plus frontend production build.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840480"/>
            <a:ext cx="347472" cy="347472"/>
          </a:xfrm>
          <a:prstGeom prst="ellipse">
            <a:avLst/>
          </a:prstGeom>
          <a:solidFill>
            <a:srgbClr val="BA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86200"/>
            <a:ext cx="3474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Supply-chain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3C2DA"/>
                </a:solidFill>
                <a:latin typeface="Aptos"/>
              </a:rPr>
              <a:t>Trivy scans both images before SHA-tagged publication.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190488" y="3840480"/>
            <a:ext cx="347472" cy="347472"/>
          </a:xfrm>
          <a:prstGeom prst="ellipse">
            <a:avLst/>
          </a:prstGeom>
          <a:solidFill>
            <a:srgbClr val="77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3886200"/>
            <a:ext cx="3474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4048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Operational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0624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3C2DA"/>
                </a:solidFill>
                <a:latin typeface="Aptos"/>
              </a:rPr>
              <a:t>Probes, metrics, dashboards, HPA, and troubleshooting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7B8EE"/>
                </a:solidFill>
                <a:latin typeface="Aptos"/>
              </a:rPr>
              <a:t>Next live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779008"/>
            <a:ext cx="9875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AWS plan/apply → EKS → Helm → Prometheus/Grafana → ArgoCD → final walkthrough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457200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499B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